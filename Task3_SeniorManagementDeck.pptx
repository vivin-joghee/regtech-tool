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087" autoAdjust="0"/>
  </p:normalViewPr>
  <p:slideViewPr>
    <p:cSldViewPr snapToGrid="0" snapToObjects="1">
      <p:cViewPr varScale="1">
        <p:scale>
          <a:sx n="78" d="100"/>
          <a:sy n="78" d="100"/>
        </p:scale>
        <p:origin x="1836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66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Calibri"/>
              </a:rPr>
              <a:t>I'm Vivin Joghee. The next five minutes: a working prototype of Strait Compliance — a jurisdiction-aware AML monitoring tool. Built for banks that operate under two regulators at once. Live on Cloudflare, source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Calibri"/>
              </a:rPr>
              <a:t>Why this product exists. Standard Chartered: four enforcement events, almost one-point-eight billion dollars, twelve years.</a:t>
            </a:r>
          </a:p>
          <a:p>
            <a:r>
              <a:rPr sz="1100">
                <a:latin typeface="Calibri"/>
              </a:rPr>
              <a:t>The detail that matters is the 2014 bar. That penalty was for *failure to remediate* the 2012 problem. Same monitoring system, second offence. Two years and three hundred million in motivation — they still missed it. The issue isn't budget. It's an architectural blind spot in cross-jurisdictional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Calibri"/>
              </a:rPr>
              <a:t>Why this product, for our bank specifically. Three facts.</a:t>
            </a:r>
          </a:p>
          <a:p>
            <a:r>
              <a:rPr sz="1100">
                <a:latin typeface="Calibri"/>
              </a:rPr>
              <a:t>We have a New York branch — on CHIPS and Fedwire. We have a Singapore subsidiary — supervised by MAS. And every US-dollar wire from Singapore clears through New York correspondent banking. No exceptions.</a:t>
            </a:r>
          </a:p>
          <a:p>
            <a:r>
              <a:rPr sz="1100">
                <a:latin typeface="Calibri"/>
              </a:rPr>
              <a:t>Translation: every cross-border SGD-to-USD flow is subject to two regulators with different rules. A system built for one of them silently violates the other every day. That's the 2012 and 2019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Calibri"/>
              </a:rPr>
              <a:t>What this tool does that a spreadsheet cannot.</a:t>
            </a:r>
          </a:p>
          <a:p>
            <a:r>
              <a:rPr sz="1100">
                <a:latin typeface="Calibri"/>
              </a:rPr>
              <a:t>Volume: a thousand transactions scored in under a second. Citation trail: every alert stamped with the rule ID, the rule pack hash, and the model hash. Reproducibility: six months from now, "why did this alert fire?" has an exact answer.</a:t>
            </a:r>
          </a:p>
          <a:p>
            <a:r>
              <a:rPr sz="1100">
                <a:latin typeface="Calibri"/>
              </a:rPr>
              <a:t>Real numbers from the run: a thousand transactions, twelve hundred fifty alerts, seventy-eight contradictions.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Calibri"/>
              </a:rPr>
              <a:t>Nine specific dimensions where US and Singapore disagree. Each one a separate rule with its own SHA-256.</a:t>
            </a:r>
          </a:p>
          <a:p>
            <a:r>
              <a:rPr sz="1100">
                <a:latin typeface="Calibri"/>
              </a:rPr>
              <a:t>Three rows to call out.</a:t>
            </a:r>
          </a:p>
          <a:p>
            <a:r>
              <a:rPr sz="1100">
                <a:latin typeface="Calibri"/>
              </a:rPr>
              <a:t>Row three — suspicious transaction reporting. US has a five-thousand-dollar floor. Singapore has no floor — any reasonable suspicion triggers the duty, regardless of amount.</a:t>
            </a:r>
          </a:p>
          <a:p>
            <a:r>
              <a:rPr sz="1100">
                <a:latin typeface="Calibri"/>
              </a:rPr>
              <a:t>Row four — cash transaction reporting. US has the ten-thousand-dollar threshold. Singapore has *nothing equivalent* at the general bank level.</a:t>
            </a:r>
          </a:p>
          <a:p>
            <a:r>
              <a:rPr sz="1100">
                <a:latin typeface="Calibri"/>
              </a:rPr>
              <a:t>Row five — PEP scope. US covers foreign politically exposed persons. Singapore is broader — domestic, foreign, and international officials.</a:t>
            </a:r>
          </a:p>
          <a:p>
            <a:r>
              <a:rPr sz="1100">
                <a:latin typeface="Calibri"/>
              </a:rPr>
              <a:t>Each row produces a different contradiction shape — which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Calibri"/>
              </a:rPr>
              <a:t>The headline result. A thousand transactions scored against both rule packs produced seventy-eight contradictions, in four distinct shapes.</a:t>
            </a:r>
          </a:p>
          <a:p>
            <a:r>
              <a:rPr sz="1100">
                <a:latin typeface="Calibri"/>
              </a:rPr>
              <a:t>Top bar: thirty-six cases where the US flags but Singapore *blocks* — driven by Singapore's principles-based supervisory approach.</a:t>
            </a:r>
          </a:p>
          <a:p>
            <a:r>
              <a:rPr sz="1100">
                <a:latin typeface="Calibri"/>
              </a:rPr>
              <a:t>Second bar: eighteen US-block / SG-flag — typically OFAC sanctions plus a co-firing foreign PEP.</a:t>
            </a:r>
          </a:p>
          <a:p>
            <a:r>
              <a:rPr sz="1100">
                <a:latin typeface="Calibri"/>
              </a:rPr>
              <a:t>Bottom two bars: twelve cases each of the asymmetric edges — where one regime fires and the other has *no rule* to fire at all.</a:t>
            </a:r>
          </a:p>
          <a:p>
            <a:r>
              <a:rPr sz="1100">
                <a:latin typeface="Calibri"/>
              </a:rPr>
              <a:t>The crucial design choice: the system never silently picks a side. Every contradiction lands in a pending queue for a human reviewer. The drawer explains the regulatory pattern in plain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Calibri"/>
              </a:rPr>
              <a:t>The audit primitives — five fields on every alert.</a:t>
            </a:r>
          </a:p>
          <a:p>
            <a:r>
              <a:rPr sz="1100">
                <a:latin typeface="Calibri"/>
              </a:rPr>
              <a:t>Transaction ID. Rule ID — cite-able to a specific CFR section. Rule pack SHA — exact YAML version. Model SHA — exact weights. ML score plus its SHAP attribution.</a:t>
            </a:r>
          </a:p>
          <a:p>
            <a:r>
              <a:rPr sz="1100">
                <a:latin typeface="Calibri"/>
              </a:rPr>
              <a:t>From those five fields, anyone can reconstruct exactly why an alert fired.</a:t>
            </a:r>
          </a:p>
          <a:p>
            <a:r>
              <a:rPr sz="1100">
                <a:latin typeface="Calibri"/>
              </a:rPr>
              <a:t>On the model itself: ROC-AUC point-nine-seven, PR-AUC point-nine-three. Threshold tuned on a separate validation split before evaluating on test — no leakage. Sanctions and large-cash recall both at one hundred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Calibri"/>
              </a:rPr>
              <a:t>Equally important — what we don't do.</a:t>
            </a:r>
          </a:p>
          <a:p>
            <a:r>
              <a:rPr sz="1100">
                <a:latin typeface="Calibri"/>
              </a:rPr>
              <a:t>We don't do KYC onboarding. Onfido and Sumsub do it better.</a:t>
            </a:r>
          </a:p>
          <a:p>
            <a:r>
              <a:rPr sz="1100">
                <a:latin typeface="Calibri"/>
              </a:rPr>
              <a:t>We don't draft suspicious activity reports with a large language model. The OCC's 2026 bulletin disclaims governance over generative AI; we don't move that liability onto our bank.</a:t>
            </a:r>
          </a:p>
          <a:p>
            <a:r>
              <a:rPr sz="1100">
                <a:latin typeface="Calibri"/>
              </a:rPr>
              <a:t>We don't claim EU coverage we haven't earned. Each "no" is a defended choice. The discipline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Calibri"/>
              </a:rPr>
              <a:t>The system is live. Three URLs on screen — the web app, the worker API, and the GitHub repository.</a:t>
            </a:r>
          </a:p>
          <a:p>
            <a:r>
              <a:rPr sz="1100">
                <a:latin typeface="Calibri"/>
              </a:rPr>
              <a:t>The closing line: Strait Compliance doesn't promise to fight financial crime. It promises that when our two regulators disagree, the system tells a human — and the audit trail is reproducible six months later.</a:t>
            </a:r>
          </a:p>
          <a:p>
            <a:r>
              <a:rPr sz="1100">
                <a:latin typeface="Calibri"/>
              </a:rPr>
              <a:t>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Strait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CCDDEE"/>
                </a:solidFill>
                <a:latin typeface="Calibri"/>
              </a:rPr>
              <a:t>Jurisdiction-aware AML monitoring built for banks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CCDDEE"/>
                </a:solidFill>
                <a:latin typeface="Calibri"/>
              </a:rPr>
              <a:t>that clear in two regulators at once.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4B7EB-C9A7-73AC-DED0-E69A76BFB106}"/>
              </a:ext>
            </a:extLst>
          </p:cNvPr>
          <p:cNvSpPr txBox="1"/>
          <p:nvPr/>
        </p:nvSpPr>
        <p:spPr>
          <a:xfrm>
            <a:off x="560439" y="5404298"/>
            <a:ext cx="9684774" cy="390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Vivin Joghee  ·  G2505378K  ·  NTU MH6822  ·  Assignment 1 (Option A: Working Prototype)</a:t>
            </a:r>
            <a:endParaRPr lang="en-IN" sz="2800" dirty="0">
              <a:solidFill>
                <a:schemeClr val="bg1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we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Standard Chartered: ~USD 1.8B in AML penalties over 12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72A4A"/>
                </a:solidFill>
                <a:latin typeface="Calibri"/>
              </a:rPr>
              <a:t>2012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463040"/>
            <a:ext cx="6400800" cy="2743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08960" y="1463040"/>
            <a:ext cx="1902783" cy="274320"/>
          </a:xfrm>
          <a:prstGeom prst="rect">
            <a:avLst/>
          </a:prstGeom>
          <a:solidFill>
            <a:srgbClr val="E6A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46920" y="1417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6A416"/>
                </a:solidFill>
                <a:latin typeface="Calibri"/>
              </a:rPr>
              <a:t>327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Iran sanctions stripping (DOJ / Fed / NYDFS / OFAC)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72A4A"/>
                </a:solidFill>
                <a:latin typeface="Calibri"/>
              </a:rPr>
              <a:t>2014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68880"/>
            <a:ext cx="6400800" cy="2743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08960" y="2468880"/>
            <a:ext cx="1745672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46920" y="24231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Failure to remediate the 2012 issues (NYDFS)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72A4A"/>
                </a:solidFill>
                <a:latin typeface="Calibri"/>
              </a:rPr>
              <a:t>2019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474720"/>
            <a:ext cx="6400800" cy="2743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08960" y="3474720"/>
            <a:ext cx="64008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46920" y="34290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1100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13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Further sanctions violations (DOJ / Fed / OFAC / NYDFS / UK FCA)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72A4A"/>
                </a:solidFill>
                <a:latin typeface="Calibri"/>
              </a:rPr>
              <a:t>2024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480560"/>
            <a:ext cx="6400800" cy="2743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08960" y="4480560"/>
            <a:ext cx="349134" cy="274320"/>
          </a:xfrm>
          <a:prstGeom prst="rect">
            <a:avLst/>
          </a:prstGeom>
          <a:solidFill>
            <a:srgbClr val="E6A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20" y="44348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6A416"/>
                </a:solidFill>
                <a:latin typeface="Calibri"/>
              </a:rPr>
              <a:t>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188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MAS follow-up after S$3B Singapore money-laundering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The 2014 penalty was for FAILURE to remediate the 2012 issue — same monitoring system, second offence.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Strait Compliance  ·  Vivin Joghee  ·  G2505378K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this product is right for our company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15214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72A4A"/>
                          </a:solidFill>
                          <a:latin typeface="Calibri"/>
                        </a:rPr>
                        <a:t>🇺🇸  NY Branch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72A4A"/>
                          </a:solidFill>
                          <a:latin typeface="Calibri"/>
                        </a:rPr>
                        <a:t>Federally licensed; supervised by Fed + NYDFS. Clears USD through CHIPS / Fedwire.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72A4A"/>
                          </a:solidFill>
                          <a:latin typeface="Calibri"/>
                        </a:rPr>
                        <a:t>🇸🇬  SG Subsidiary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72A4A"/>
                          </a:solidFill>
                          <a:latin typeface="Calibri"/>
                        </a:rPr>
                        <a:t>Locally incorporated under Singapore Banking Act §7; supervised by MAS.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72A4A"/>
                          </a:solidFill>
                          <a:latin typeface="Calibri"/>
                        </a:rPr>
                        <a:t>💵  Every USD wire from SG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72A4A"/>
                          </a:solidFill>
                          <a:latin typeface="Calibri"/>
                        </a:rPr>
                        <a:t>Touches US OFAC scope via NY correspondent clearing. No exceptions.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4206240"/>
            <a:ext cx="10972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72A4A"/>
                </a:solidFill>
                <a:latin typeface="Calibri"/>
              </a:rPr>
              <a:t>Every cross-border SGD→USD flow is subject to two regulators with different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834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A monitoring system built for one regulator silently violates the other every day. This is the exact failure mode of 2012 and 2019.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Strait Compliance  ·  Vivin Joghee  ·  G2505378K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a memo or spreadsheet cannot 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15214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Manual (spreadsheet)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Strait Compliance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Transactions reviewed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~50 / day per analyst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1,000+ / second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Rules applied per transaction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1 jurisdiction at a time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2 jurisdictions in parallel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Citation trail per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Free-text comment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rule_id + rule_pack_sha + model_sha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Reproducible after rule change?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Yes — SHA history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Alerts in our prototype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1,250 alerts on 1,000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Contradictions surfaced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Invisible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72A4A"/>
                          </a:solidFill>
                          <a:latin typeface="Calibri"/>
                        </a:rPr>
                        <a:t>78 explicit, queued for human review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The spreadsheet collapses under volume; the system pins every alert to a regulation citation that survives examination.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Strait Compliance  ·  Vivin Joghee  ·  G2505378K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regulatory divergence we handle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9 dimensions where US and Singapore disagree — each encoded as its own YAML rule with SHA-256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Singapore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Primary statute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BSA / PATRIOT / AMLA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CDSA / TSOFA / MAS Notice 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Lead administrator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FinCEN + 4 prudential + OFAC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MAS (single integrated regulator)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SAR/STR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≥ USD 5,000 + suspicion (30-day filing)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No floor — suspicion alone (CDSA s.45)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Cash transaction report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&gt; USD 10,000 (31 CFR §1010.311)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No general bank threshold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PEP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Foreign only (31 CFR §1010.605)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Broader — foreign + domestic + 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Sanctions list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OFAC SDN (extraterritorial via USD)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MAS-TFS (no extraterritorial reach)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Beneficial ownership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CTA / BOI — paused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ACRA Register of Registrable Controllers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AI governance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OCC 2026-13 (excludes GenAI)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MAS FEAT + Veritas (covers AI fully)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2026 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72A4A"/>
                          </a:solidFill>
                          <a:latin typeface="Calibri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Strait Compliance  ·  Vivin Joghee  ·  G2505378K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the divergence shows up in real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1,000 synthetic transactions → 78 contradictions across all four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72A4A"/>
                </a:solidFill>
                <a:latin typeface="Calibri"/>
              </a:rPr>
              <a:t>US flag / SG 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508760"/>
            <a:ext cx="6400800" cy="2743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08960" y="1508760"/>
            <a:ext cx="6400800" cy="274320"/>
          </a:xfrm>
          <a:prstGeom prst="rect">
            <a:avLst/>
          </a:prstGeom>
          <a:solidFill>
            <a:srgbClr val="E6A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46920" y="14630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6A416"/>
                </a:solidFill>
                <a:latin typeface="Calibr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MAS principles-based block where US only flags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72A4A"/>
                </a:solidFill>
                <a:latin typeface="Calibri"/>
              </a:rPr>
              <a:t>US block / SG flag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377440"/>
            <a:ext cx="6400800" cy="2743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08960" y="2377440"/>
            <a:ext cx="32004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46920" y="23317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157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OFAC SDN + co-firing foreign PEP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72A4A"/>
                </a:solidFill>
                <a:latin typeface="Calibri"/>
              </a:rPr>
              <a:t>US block / SG allow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246120"/>
            <a:ext cx="6400800" cy="2743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08960" y="3246120"/>
            <a:ext cx="21336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46920" y="32004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844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OFAC SDN, weak SG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72A4A"/>
                </a:solidFill>
                <a:latin typeface="Calibri"/>
              </a:rPr>
              <a:t>US allow / SG block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114800"/>
            <a:ext cx="6400800" cy="2743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08960" y="4114800"/>
            <a:ext cx="2133600" cy="274320"/>
          </a:xfrm>
          <a:prstGeom prst="rect">
            <a:avLst/>
          </a:prstGeom>
          <a:solidFill>
            <a:srgbClr val="E6A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20" y="4069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6A416"/>
                </a:solidFill>
                <a:latin typeface="Calibr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531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SG TBML where US has no rule lever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983480"/>
            <a:ext cx="1097280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Calibri"/>
              </a:rPr>
              <a:t>The system never silently picks a side.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Every contradiction lands in a pending queue for the MLRO to resolve. The drawer explains the regulatory pattern in plain English.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Strait Compliance  ·  Vivin Joghee  ·  G2505378K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audit primitives a regulator expects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Every alert in our database carries: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142999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transaction_id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Joins to the underlying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rule_id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e.g. US.SANCTIONS.OFAC_SDN — cite-able to a CFR section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rule_pack_sha (256)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e.g. 7c1f8093964bfcb8… — exact YAML 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model_sha (256)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e.g. e8b7613118fde18a… — exact model weights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ml_score + shap_attribution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Top-12 features that drove the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937760"/>
            <a:ext cx="10972800" cy="54864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72A4A"/>
                </a:solidFill>
                <a:latin typeface="Calibri"/>
              </a:rPr>
              <a:t>Model performance (held-out test, threshold tuned only on validation):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5486400"/>
          <a:ext cx="10515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F1-optimal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Sanctions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Large-cash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0.5960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Strait Compliance  ·  Vivin Joghee  ·  G2505378K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we don't do — boundary choices, not gaps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1338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 don't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KYC onboarding (biometric, doc verification)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Specialist vendors (Onfido / Sumsub) do this better. Out of scope.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LLM-drafted SAR/STR narratives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OCC Bulletin 2026-13 disclaims governance over GenAI. Liability stays with us.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EU 6AMLD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Not properly studied. Pretending otherwise is the failure mode this tool prevents.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Real-time blocking decisions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Bank's payment switch makes the block call; we supply the signal + SHA-pinned reason.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Fictional sanctioned entities (real names)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72A4A"/>
                          </a:solidFill>
                          <a:latin typeface="Calibri"/>
                        </a:rPr>
                        <a:t>Synthetic flags only via raw columns; we never claim a real entity is sanctioned.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2A9D8F"/>
                </a:solidFill>
                <a:latin typeface="Calibri"/>
              </a:rPr>
              <a:t>Each “no” is a defended choice, not a roadmap item. The discipline is the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Strait Compliance  ·  Vivin Joghee  ·  G2505378K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Live and reproducible.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>
                <a:solidFill>
                  <a:srgbClr val="DDEEFF"/>
                </a:solidFill>
                <a:latin typeface="Consolas"/>
              </a:rPr>
              <a:t>Web app:    https://strait-compliance.pages.dev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dirty="0">
                <a:solidFill>
                  <a:srgbClr val="DDEEFF"/>
                </a:solidFill>
                <a:latin typeface="Consolas"/>
              </a:rPr>
              <a:t>Source:     https://github.com/vivin-joghee/regtech-tool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1153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  <a:latin typeface="Calibri"/>
              </a:rPr>
              <a:t>Strait Compliance does not promise to fight financial crime.</a:t>
            </a:r>
          </a:p>
          <a:p>
            <a:pPr algn="l"/>
            <a:r>
              <a:rPr sz="1500" b="0">
                <a:solidFill>
                  <a:srgbClr val="CCDDEE"/>
                </a:solidFill>
                <a:latin typeface="Calibri"/>
              </a:rPr>
              <a:t>It promises that when our bank's two regulators disagree, the system says so to a human,</a:t>
            </a:r>
          </a:p>
          <a:p>
            <a:pPr algn="l"/>
            <a:r>
              <a:rPr sz="1500" b="0">
                <a:solidFill>
                  <a:srgbClr val="CCDDEE"/>
                </a:solidFill>
                <a:latin typeface="Calibri"/>
              </a:rPr>
              <a:t>and the audit trail is reproducible six months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1731</Words>
  <Application>Microsoft Office PowerPoint</Application>
  <PresentationFormat>Widescreen</PresentationFormat>
  <Paragraphs>189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Vivin Joghee</cp:lastModifiedBy>
  <cp:revision>3</cp:revision>
  <dcterms:created xsi:type="dcterms:W3CDTF">2013-01-27T09:14:16Z</dcterms:created>
  <dcterms:modified xsi:type="dcterms:W3CDTF">2026-05-15T09:19:55Z</dcterms:modified>
  <cp:category/>
</cp:coreProperties>
</file>